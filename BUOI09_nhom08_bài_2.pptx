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custShowLst>
    <p:custShow name="KHTN" id="0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  <p:sld r:id="rId15"/>
      </p:sldLst>
    </p:custShow>
    <p:custShow name="CNTT" id="1">
      <p:sldLst>
        <p:sld r:id="rId2"/>
        <p:sld r:id="rId3"/>
        <p:sld r:id="rId4"/>
        <p:sld r:id="rId5"/>
        <p:sld r:id="rId6"/>
        <p:sld r:id="rId11"/>
        <p:sld r:id="rId12"/>
        <p:sld r:id="rId13"/>
        <p:sld r:id="rId14"/>
        <p:sld r:id="rId15"/>
      </p:sldLst>
    </p:custShow>
  </p:custShow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732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4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D5232157-68E2-78D1-4E3C-0DA830F6B3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992AC3C5-68F9-5A80-6D1C-10268D471B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A17979-991E-42FA-9F4D-F9A32219C916}" type="datetimeFigureOut">
              <a:rPr lang="en-US" smtClean="0"/>
              <a:t>05/02/2026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AE79E46-A024-CC4F-EC66-C4AAEF6A321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A44E298-C665-0ECA-BD87-B99BAE576C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6B5BCD-F878-4230-9038-C84DD66F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30921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E90BE7-C4CB-4B85-AADF-CB16CFBF7A15}" type="datetimeFigureOut">
              <a:rPr lang="en-US" smtClean="0"/>
              <a:t>05/02/2026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6B3C9A-A05A-4E83-B790-AB76C87043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88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7516" y="2900993"/>
            <a:ext cx="10700712" cy="9852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32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 dirty="0"/>
              <a:t>Ts. Nguyễn văn 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3775" y="5883277"/>
            <a:ext cx="6672887" cy="365125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vi-VN" dirty="0"/>
              <a:t>Giới thiệu Đại Học Cần Thơ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 dirty="0"/>
              <a:t>1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E04AE135-B000-31D8-E04A-196D101C8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51025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8"/>
            <a:ext cx="8689976" cy="985216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7516" y="2900993"/>
            <a:ext cx="10700712" cy="9852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3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vi-V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3775" y="5883277"/>
            <a:ext cx="6672887" cy="365125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vi-VN" dirty="0"/>
              <a:t>Giới thiệu Đại Học Cần Thơ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latin typeface="+mj-lt"/>
              </a:defRPr>
            </a:lvl1pPr>
          </a:lstStyle>
          <a:p>
            <a:r>
              <a:rPr lang="vi-VN" dirty="0"/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006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2737" y="618519"/>
            <a:ext cx="9379200" cy="159617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3775" y="5883277"/>
            <a:ext cx="6672887" cy="365125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vi-VN" dirty="0"/>
              <a:t>Giới thiệu Đại Học Cần Thơ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vi-VN" dirty="0"/>
              <a:t>3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F7A18FEB-05A8-0630-0838-1519EB2088E7}"/>
              </a:ext>
            </a:extLst>
          </p:cNvPr>
          <p:cNvSpPr txBox="1">
            <a:spLocks/>
          </p:cNvSpPr>
          <p:nvPr userDrawn="1"/>
        </p:nvSpPr>
        <p:spPr>
          <a:xfrm>
            <a:off x="3676232" y="2452809"/>
            <a:ext cx="5374105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baseline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fontAlgn="auto">
              <a:spcAft>
                <a:spcPts val="0"/>
              </a:spcAft>
            </a:pP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A0A65568-53B3-94B6-34EE-0939867C9F5C}"/>
              </a:ext>
            </a:extLst>
          </p:cNvPr>
          <p:cNvSpPr txBox="1">
            <a:spLocks/>
          </p:cNvSpPr>
          <p:nvPr userDrawn="1"/>
        </p:nvSpPr>
        <p:spPr>
          <a:xfrm>
            <a:off x="288758" y="1838325"/>
            <a:ext cx="10764253" cy="37147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baseline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marL="0" indent="0" algn="l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2477770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49" y="1923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828566"/>
            <a:ext cx="10351752" cy="99653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974329"/>
            <a:ext cx="10351752" cy="136818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2800">
                <a:solidFill>
                  <a:schemeClr val="tx1"/>
                </a:solidFill>
                <a:sym typeface="Wingdings" panose="05000000000000000000" pitchFamily="2" charset="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vi-VN" dirty="0"/>
          </a:p>
          <a:p>
            <a:pPr lvl="0"/>
            <a:r>
              <a:rPr lang="vi-VN" dirty="0"/>
              <a:t>       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8975" y="6248402"/>
            <a:ext cx="6672887" cy="365125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vi-VN" dirty="0"/>
              <a:t>Giới thiệu Đại Học Cần Thơ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 dirty="0"/>
              <a:t>4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xmlns="" id="{6444E4FC-C02E-95F1-9E97-4535F095358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08975" y="2093955"/>
            <a:ext cx="10351752" cy="136818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  <a:sym typeface="Wingdings" panose="05000000000000000000" pitchFamily="2" charset="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199515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51977" y="3829743"/>
            <a:ext cx="9526251" cy="1536166"/>
          </a:xfrm>
          <a:prstGeom prst="rect">
            <a:avLst/>
          </a:prstGeom>
        </p:spPr>
        <p:txBody>
          <a:bodyPr/>
          <a:lstStyle>
            <a:lvl1pPr algn="l">
              <a:defRPr sz="2800" b="0"/>
            </a:lvl1pPr>
          </a:lstStyle>
          <a:p>
            <a:r>
              <a:rPr lang="vi-VN" dirty="0"/>
              <a:t/>
            </a:r>
            <a:br>
              <a:rPr lang="vi-VN" dirty="0"/>
            </a:br>
            <a:r>
              <a:rPr lang="vi-VN" dirty="0"/>
              <a:t>-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13775" y="5883277"/>
            <a:ext cx="6672887" cy="365125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+mj-lt"/>
              </a:defRPr>
            </a:lvl1pPr>
          </a:lstStyle>
          <a:p>
            <a:r>
              <a:rPr lang="vi-VN" dirty="0"/>
              <a:t>Giới thiệu Đại Học Cần Thơ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 dirty="0"/>
              <a:t>5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xmlns="" id="{1AD3B653-0111-3F75-A404-200CD29B0ED7}"/>
              </a:ext>
            </a:extLst>
          </p:cNvPr>
          <p:cNvSpPr txBox="1">
            <a:spLocks/>
          </p:cNvSpPr>
          <p:nvPr userDrawn="1"/>
        </p:nvSpPr>
        <p:spPr>
          <a:xfrm>
            <a:off x="844675" y="547373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 cap="all" baseline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 fontAlgn="auto">
              <a:spcAft>
                <a:spcPts val="0"/>
              </a:spcAft>
            </a:pPr>
            <a:endParaRPr lang="en-US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7738A1F1-E02D-F619-AB3A-4AFA8AEB78C9}"/>
              </a:ext>
            </a:extLst>
          </p:cNvPr>
          <p:cNvSpPr txBox="1">
            <a:spLocks/>
          </p:cNvSpPr>
          <p:nvPr userDrawn="1"/>
        </p:nvSpPr>
        <p:spPr>
          <a:xfrm>
            <a:off x="982874" y="1872470"/>
            <a:ext cx="10364451" cy="19572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 cap="all" baseline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marL="457200" indent="-457200" algn="l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3200" b="0" dirty="0"/>
          </a:p>
        </p:txBody>
      </p:sp>
    </p:spTree>
    <p:extLst>
      <p:ext uri="{BB962C8B-B14F-4D97-AF65-F5344CB8AC3E}">
        <p14:creationId xmlns:p14="http://schemas.microsoft.com/office/powerpoint/2010/main" val="696374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2"/>
            <a:ext cx="10364452" cy="1748588"/>
          </a:xfrm>
          <a:prstGeom prst="rect">
            <a:avLst/>
          </a:prstGeom>
        </p:spPr>
        <p:txBody>
          <a:bodyPr anchor="ctr"/>
          <a:lstStyle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291461" y="4060256"/>
            <a:ext cx="10364452" cy="94648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 dirty="0"/>
              <a:t> </a:t>
            </a:r>
          </a:p>
          <a:p>
            <a:pPr lvl="0"/>
            <a:r>
              <a:rPr lang="vi-VN" dirty="0"/>
              <a:t>+ 12 phòng thí nghiệm (ptn) cho sinh, hóa, vật lý </a:t>
            </a:r>
          </a:p>
          <a:p>
            <a:pPr lvl="0"/>
            <a:r>
              <a:rPr lang="vi-VN" dirty="0"/>
              <a:t>+ 06 phòng máy tính được nói  mạng với nhau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3775" y="5883277"/>
            <a:ext cx="6672887" cy="365125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vi-VN" dirty="0"/>
              <a:t>Giới thiệu Đại Học Cần Thơ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 dirty="0"/>
              <a:t>6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xmlns="" id="{AF2BE607-FACA-D386-DF1D-859BD64EA68E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-1361661" y="2060046"/>
            <a:ext cx="10364452" cy="1598105"/>
          </a:xfrm>
          <a:prstGeom prst="rect">
            <a:avLst/>
          </a:prstGeom>
        </p:spPr>
        <p:txBody>
          <a:bodyPr anchor="ctr"/>
          <a:lstStyle>
            <a:lvl1pPr marL="457200" indent="-457200" algn="ctr">
              <a:buFont typeface="Arial" panose="020B0604020202020204" pitchFamily="34" charset="0"/>
              <a:buChar char="•"/>
              <a:defRPr sz="3200" b="1">
                <a:solidFill>
                  <a:srgbClr val="FF0000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endParaRPr lang="vi-VN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xmlns="" id="{67FDCCC8-2EE6-8105-CBC6-B661F4CE5C00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1046922" y="3103836"/>
            <a:ext cx="10364452" cy="159810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 dirty="0"/>
              <a:t>- ngày 14/1/1998, trường đhct khánh thành khoa khoa học </a:t>
            </a:r>
          </a:p>
          <a:p>
            <a:pPr lvl="0"/>
            <a:r>
              <a:rPr lang="vi-VN" dirty="0"/>
              <a:t>- Cơ sở vật chất</a:t>
            </a:r>
          </a:p>
          <a:p>
            <a:pPr lvl="0"/>
            <a:endParaRPr lang="vi-VN" dirty="0"/>
          </a:p>
          <a:p>
            <a:pPr lvl="0"/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282402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5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46212" y="872589"/>
            <a:ext cx="9302752" cy="1747397"/>
          </a:xfrm>
          <a:prstGeom prst="rect">
            <a:avLst/>
          </a:prstGeom>
        </p:spPr>
        <p:txBody>
          <a:bodyPr anchor="ctr"/>
          <a:lstStyle>
            <a:lvl1pPr>
              <a:defRPr sz="3200"/>
            </a:lvl1pPr>
          </a:lstStyle>
          <a:p>
            <a:r>
              <a:rPr lang="vi-VN" dirty="0"/>
              <a:t>Đhct giai đoạn sau năm 1975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 hasCustomPrompt="1"/>
          </p:nvPr>
        </p:nvSpPr>
        <p:spPr>
          <a:xfrm>
            <a:off x="1520911" y="3028389"/>
            <a:ext cx="8752299" cy="22097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 dirty="0"/>
              <a:t> </a:t>
            </a:r>
          </a:p>
          <a:p>
            <a:pPr lvl="0"/>
            <a:r>
              <a:rPr lang="vi-VN" dirty="0"/>
              <a:t>+ Vp khoa và xưởng sửa chữa </a:t>
            </a:r>
          </a:p>
          <a:p>
            <a:pPr lvl="0"/>
            <a:r>
              <a:rPr lang="vi-VN" dirty="0"/>
              <a:t>+ Năm 2010, trường đã đầu tư mở rộng khu ptn của khoa </a:t>
            </a:r>
          </a:p>
          <a:p>
            <a:pPr lvl="0"/>
            <a:r>
              <a:rPr lang="vi-VN" dirty="0"/>
              <a:t>+ Xây mới khu nhà 3 tầng với 22 phòng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3775" y="5883277"/>
            <a:ext cx="6672887" cy="365125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+mj-lt"/>
              </a:defRPr>
            </a:lvl1pPr>
          </a:lstStyle>
          <a:p>
            <a:r>
              <a:rPr lang="vi-VN" dirty="0"/>
              <a:t>Giới thiệu Đại Học Cần Thơ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/>
            </a:lvl1pPr>
          </a:lstStyle>
          <a:p>
            <a:r>
              <a:rPr lang="vi-VN" dirty="0"/>
              <a:t>7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83501" y="887859"/>
            <a:ext cx="729184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466841" y="3120015"/>
            <a:ext cx="7381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xmlns="" id="{74FA8776-F31D-92F0-DE82-D74A99BDC6D0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-387261" y="2505568"/>
            <a:ext cx="8752299" cy="594788"/>
          </a:xfrm>
          <a:prstGeom prst="rect">
            <a:avLst/>
          </a:prstGeom>
        </p:spPr>
        <p:txBody>
          <a:bodyPr anchor="t"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>
                <a:solidFill>
                  <a:srgbClr val="FF0000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 dirty="0"/>
              <a:t>Khoa khoa học tự nhiên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E378F948-B882-C0C4-5419-44FDE52DD988}"/>
              </a:ext>
            </a:extLst>
          </p:cNvPr>
          <p:cNvSpPr txBox="1">
            <a:spLocks/>
          </p:cNvSpPr>
          <p:nvPr userDrawn="1"/>
        </p:nvSpPr>
        <p:spPr>
          <a:xfrm>
            <a:off x="913775" y="2571059"/>
            <a:ext cx="3820384" cy="17473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baseline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vi-VN" sz="2800" b="0" dirty="0"/>
              <a:t>- Cơ sở vật chất</a:t>
            </a:r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2609106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3775" y="787361"/>
            <a:ext cx="10364452" cy="1140644"/>
          </a:xfrm>
          <a:prstGeom prst="rect">
            <a:avLst/>
          </a:prstGeom>
        </p:spPr>
        <p:txBody>
          <a:bodyPr anchor="b"/>
          <a:lstStyle>
            <a:lvl1pPr algn="ctr">
              <a:defRPr sz="3200"/>
            </a:lvl1pPr>
          </a:lstStyle>
          <a:p>
            <a:r>
              <a:rPr lang="vi-VN" dirty="0"/>
              <a:t>Đhct giai đoạn sau năm 1975</a:t>
            </a:r>
            <a:br>
              <a:rPr lang="vi-VN" dirty="0"/>
            </a:b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04436" y="2883538"/>
            <a:ext cx="10364452" cy="1140644"/>
          </a:xfrm>
          <a:prstGeom prst="rect">
            <a:avLst/>
          </a:prstGeom>
        </p:spPr>
        <p:txBody>
          <a:bodyPr anchor="t"/>
          <a:lstStyle>
            <a:lvl1pPr marL="0" indent="0" algn="just">
              <a:buFont typeface="Arial" panose="020B0604020202020204" pitchFamily="34" charset="0"/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endParaRPr lang="vi-VN" dirty="0"/>
          </a:p>
          <a:p>
            <a:pPr lvl="0"/>
            <a:r>
              <a:rPr lang="vi-VN" dirty="0"/>
              <a:t>+ Bộ môn sinh học</a:t>
            </a:r>
          </a:p>
          <a:p>
            <a:pPr lvl="0"/>
            <a:r>
              <a:rPr lang="vi-VN" dirty="0"/>
              <a:t>+ Bộ môn hóa học</a:t>
            </a:r>
          </a:p>
          <a:p>
            <a:pPr lvl="0"/>
            <a:r>
              <a:rPr lang="vi-VN" dirty="0"/>
              <a:t>+ Bộ môn toán học </a:t>
            </a:r>
          </a:p>
          <a:p>
            <a:pPr lvl="0"/>
            <a:r>
              <a:rPr lang="vi-VN" dirty="0"/>
              <a:t>+ Bộ môn vật lý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3775" y="5883277"/>
            <a:ext cx="6672887" cy="365125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+mj-lt"/>
              </a:defRPr>
            </a:lvl1pPr>
          </a:lstStyle>
          <a:p>
            <a:r>
              <a:rPr lang="vi-VN" dirty="0"/>
              <a:t>Giới thiệu Đại Học Cần Thơ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vi-VN" dirty="0"/>
              <a:t>8</a:t>
            </a:r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xmlns="" id="{C7EB9C96-3EBC-8077-B10D-7465CB79D2BA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531668" y="2246516"/>
            <a:ext cx="10364452" cy="1140644"/>
          </a:xfrm>
          <a:prstGeom prst="rect">
            <a:avLst/>
          </a:prstGeom>
        </p:spPr>
        <p:txBody>
          <a:bodyPr anchor="t"/>
          <a:lstStyle>
            <a:lvl1pPr marL="0" indent="0" algn="ctr">
              <a:buFont typeface="Arial" panose="020B0604020202020204" pitchFamily="34" charset="0"/>
              <a:buNone/>
              <a:defRPr sz="2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endParaRPr lang="vi-VN" dirty="0"/>
          </a:p>
          <a:p>
            <a:pPr lvl="0"/>
            <a:r>
              <a:rPr lang="vi-VN" dirty="0"/>
              <a:t>- Khoa khtn hiện nay gồm 04 bộ môn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xmlns="" id="{A007AE37-7E93-5C3C-3407-A8A6BA035593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828675" y="2327944"/>
            <a:ext cx="7649202" cy="1140644"/>
          </a:xfrm>
          <a:prstGeom prst="rect">
            <a:avLst/>
          </a:prstGeom>
        </p:spPr>
        <p:txBody>
          <a:bodyPr anchor="t"/>
          <a:lstStyle>
            <a:lvl1pPr marL="457200" indent="-457200" algn="ctr">
              <a:buFont typeface="Arial" panose="020B0604020202020204" pitchFamily="34" charset="0"/>
              <a:buChar char="•"/>
              <a:defRPr sz="3200" b="1">
                <a:solidFill>
                  <a:srgbClr val="FF0000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 dirty="0"/>
              <a:t> Khoa khoa học tự nhiên </a:t>
            </a:r>
          </a:p>
          <a:p>
            <a:pPr lvl="0"/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2737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042322"/>
            <a:ext cx="6924675" cy="852490"/>
          </a:xfrm>
          <a:prstGeom prst="rect">
            <a:avLst/>
          </a:prstGeom>
        </p:spPr>
        <p:txBody>
          <a:bodyPr/>
          <a:lstStyle>
            <a:lvl1pPr marL="457200" indent="-457200">
              <a:buFont typeface="Arial" panose="020B0604020202020204" pitchFamily="34" charset="0"/>
              <a:buChar char="•"/>
              <a:defRPr>
                <a:solidFill>
                  <a:srgbClr val="FF0000"/>
                </a:solidFill>
              </a:defRPr>
            </a:lvl1pPr>
          </a:lstStyle>
          <a:p>
            <a:r>
              <a:rPr lang="vi-VN" dirty="0"/>
              <a:t>Khoa khoa học tự nhiên 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3775" y="5883277"/>
            <a:ext cx="6672887" cy="365125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+mj-lt"/>
              </a:defRPr>
            </a:lvl1pPr>
          </a:lstStyle>
          <a:p>
            <a:r>
              <a:rPr lang="vi-VN" dirty="0"/>
              <a:t>Giới thiệu Đại Học Cần Thơ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vi-VN" dirty="0"/>
              <a:t>9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E9851348-E6DF-9347-9C87-3273CDB82B49}"/>
              </a:ext>
            </a:extLst>
          </p:cNvPr>
          <p:cNvSpPr txBox="1">
            <a:spLocks/>
          </p:cNvSpPr>
          <p:nvPr userDrawn="1"/>
        </p:nvSpPr>
        <p:spPr>
          <a:xfrm>
            <a:off x="1676399" y="3002759"/>
            <a:ext cx="7439025" cy="27725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baseline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marL="457200" indent="-457200" algn="l" fontAlgn="auto">
              <a:spcAft>
                <a:spcPts val="0"/>
              </a:spcAft>
              <a:buFontTx/>
              <a:buChar char="-"/>
            </a:pPr>
            <a:r>
              <a:rPr lang="vi-VN" sz="2800" dirty="0"/>
              <a:t>Công tác đào tạo</a:t>
            </a:r>
            <a:r>
              <a:rPr lang="vi-VN" sz="4600" dirty="0"/>
              <a:t> </a:t>
            </a:r>
          </a:p>
          <a:p>
            <a:pPr marL="685800" indent="-685800" algn="l" fontAlgn="auto">
              <a:spcAft>
                <a:spcPts val="0"/>
              </a:spcAft>
              <a:buFontTx/>
              <a:buChar char="-"/>
            </a:pPr>
            <a:endParaRPr lang="vi-VN" sz="4600" dirty="0"/>
          </a:p>
          <a:p>
            <a:pPr algn="l" fontAlgn="auto">
              <a:spcAft>
                <a:spcPts val="0"/>
              </a:spcAft>
            </a:pPr>
            <a:r>
              <a:rPr lang="vi-VN" sz="2400" dirty="0"/>
              <a:t>       + Đại học :...........</a:t>
            </a:r>
          </a:p>
          <a:p>
            <a:pPr algn="l" fontAlgn="auto">
              <a:spcAft>
                <a:spcPts val="0"/>
              </a:spcAft>
            </a:pPr>
            <a:endParaRPr lang="vi-VN" sz="2400" dirty="0"/>
          </a:p>
          <a:p>
            <a:pPr algn="l" fontAlgn="auto">
              <a:spcAft>
                <a:spcPts val="0"/>
              </a:spcAft>
            </a:pPr>
            <a:r>
              <a:rPr lang="vi-VN" sz="2400" dirty="0"/>
              <a:t>       + Sđh:.............</a:t>
            </a:r>
          </a:p>
          <a:p>
            <a:pPr algn="l" fontAlgn="auto">
              <a:spcAft>
                <a:spcPts val="0"/>
              </a:spcAft>
            </a:pPr>
            <a:endParaRPr lang="vi-VN" sz="2400" dirty="0"/>
          </a:p>
          <a:p>
            <a:pPr marL="0" indent="0" algn="l" fontAlgn="auto">
              <a:spcAft>
                <a:spcPts val="0"/>
              </a:spcAft>
              <a:buFontTx/>
              <a:buNone/>
            </a:pPr>
            <a:r>
              <a:rPr lang="vi-VN" sz="2800" dirty="0"/>
              <a:t>- Công tác nckh, báo cáo chuyên đề:.......</a:t>
            </a:r>
          </a:p>
          <a:p>
            <a:pPr marL="457200" indent="-457200" algn="l" fontAlgn="auto">
              <a:spcAft>
                <a:spcPts val="0"/>
              </a:spcAft>
              <a:buFontTx/>
              <a:buChar char="-"/>
            </a:pPr>
            <a:endParaRPr lang="vi-VN" sz="2800" dirty="0"/>
          </a:p>
          <a:p>
            <a:pPr algn="l" fontAlgn="auto">
              <a:spcAft>
                <a:spcPts val="0"/>
              </a:spcAft>
            </a:pPr>
            <a:r>
              <a:rPr lang="vi-VN" sz="2800" dirty="0"/>
              <a:t>- Công tác đào tạo và bồi dưỡng cán bộ:........</a:t>
            </a:r>
            <a:endParaRPr lang="en-US" sz="28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5A05071A-C26A-D26F-8071-881E60F0A111}"/>
              </a:ext>
            </a:extLst>
          </p:cNvPr>
          <p:cNvSpPr txBox="1">
            <a:spLocks/>
          </p:cNvSpPr>
          <p:nvPr userDrawn="1"/>
        </p:nvSpPr>
        <p:spPr>
          <a:xfrm>
            <a:off x="514350" y="73263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baseline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vi-VN" dirty="0"/>
              <a:t>Đhct giai đoạn sau năm 1975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538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14425" y="3108328"/>
            <a:ext cx="10515600" cy="1325563"/>
          </a:xfrm>
          <a:prstGeom prst="rect">
            <a:avLst/>
          </a:prstGeom>
        </p:spPr>
        <p:txBody>
          <a:bodyPr/>
          <a:lstStyle>
            <a:lvl1pPr algn="l">
              <a:defRPr sz="2800" b="0"/>
            </a:lvl1pPr>
          </a:lstStyle>
          <a:p>
            <a:r>
              <a:rPr lang="vi-VN" dirty="0"/>
              <a:t/>
            </a:r>
            <a:br>
              <a:rPr lang="vi-VN" dirty="0"/>
            </a:br>
            <a:r>
              <a:rPr lang="vi-VN" dirty="0"/>
              <a:t>- được thành lập năm 1994 trên cơ sở trung tâm điện tử và tin học</a:t>
            </a:r>
            <a:br>
              <a:rPr lang="vi-VN" dirty="0"/>
            </a:br>
            <a:r>
              <a:rPr lang="vi-VN" dirty="0"/>
              <a:t>- nhiệm vụ của khoa là đào tạo</a:t>
            </a:r>
            <a:br>
              <a:rPr lang="vi-VN" dirty="0"/>
            </a:br>
            <a:r>
              <a:rPr lang="vi-VN" dirty="0"/>
              <a:t> 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3775" y="5883277"/>
            <a:ext cx="6672887" cy="365125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+mj-lt"/>
              </a:defRPr>
            </a:lvl1pPr>
          </a:lstStyle>
          <a:p>
            <a:r>
              <a:rPr lang="vi-VN" dirty="0"/>
              <a:t>Giới thiệu Đại Học Cần Thơ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vi-VN" dirty="0"/>
              <a:t>10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8A9287AE-87E2-BE45-AE3C-BCE3B1317E03}"/>
              </a:ext>
            </a:extLst>
          </p:cNvPr>
          <p:cNvSpPr txBox="1">
            <a:spLocks/>
          </p:cNvSpPr>
          <p:nvPr userDrawn="1"/>
        </p:nvSpPr>
        <p:spPr>
          <a:xfrm>
            <a:off x="514350" y="73263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baseline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vi-VN" dirty="0"/>
              <a:t>Đhct giai đoạn sau năm 1975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0A8CF995-6D4D-A02B-79BC-97C0B6411A2D}"/>
              </a:ext>
            </a:extLst>
          </p:cNvPr>
          <p:cNvSpPr txBox="1">
            <a:spLocks/>
          </p:cNvSpPr>
          <p:nvPr userDrawn="1"/>
        </p:nvSpPr>
        <p:spPr>
          <a:xfrm>
            <a:off x="1447800" y="42981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baseline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lang="vi-VN" sz="2400" b="0" dirty="0"/>
              <a:t>+ đại học và sau đại học</a:t>
            </a:r>
          </a:p>
          <a:p>
            <a:pPr algn="l" fontAlgn="auto">
              <a:spcAft>
                <a:spcPts val="0"/>
              </a:spcAft>
            </a:pPr>
            <a:r>
              <a:rPr lang="vi-VN" sz="2400" b="0" dirty="0"/>
              <a:t>+ nckh và chuyển giao công nghệ trong lĩnh vực cntt&amp;tt</a:t>
            </a:r>
            <a:endParaRPr lang="en-US" sz="2400" b="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EE499823-350F-1145-31D9-04EFEA33B893}"/>
              </a:ext>
            </a:extLst>
          </p:cNvPr>
          <p:cNvSpPr txBox="1">
            <a:spLocks/>
          </p:cNvSpPr>
          <p:nvPr userDrawn="1"/>
        </p:nvSpPr>
        <p:spPr>
          <a:xfrm>
            <a:off x="323850" y="1897063"/>
            <a:ext cx="473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baseline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marL="457200" indent="-457200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vi-VN" b="1" u="sng" dirty="0">
                <a:solidFill>
                  <a:srgbClr val="00B0F0"/>
                </a:solidFill>
              </a:rPr>
              <a:t>Khoa cntt&amp;tt</a:t>
            </a:r>
            <a:endParaRPr lang="en-US" b="1" u="sng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615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21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84018"/>
            <a:ext cx="10515600" cy="1325563"/>
          </a:xfrm>
          <a:prstGeom prst="rect">
            <a:avLst/>
          </a:prstGeom>
        </p:spPr>
        <p:txBody>
          <a:bodyPr/>
          <a:lstStyle>
            <a:lvl1pPr marL="457200" indent="-457200" algn="l">
              <a:buFont typeface="Arial" panose="020B0604020202020204" pitchFamily="34" charset="0"/>
              <a:buChar char="•"/>
              <a:defRPr>
                <a:solidFill>
                  <a:srgbClr val="002060"/>
                </a:solidFill>
              </a:defRPr>
            </a:lvl1pPr>
          </a:lstStyle>
          <a:p>
            <a:r>
              <a:rPr lang="vi-VN" dirty="0"/>
              <a:t>Khoa cntt&amp;tt</a:t>
            </a:r>
            <a:br>
              <a:rPr lang="vi-VN" dirty="0"/>
            </a:b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3775" y="5883277"/>
            <a:ext cx="6672887" cy="365125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vi-VN" dirty="0"/>
              <a:t>Giới thiệu Đại Học Cần Thơ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latin typeface="+mj-lt"/>
              </a:defRPr>
            </a:lvl1pPr>
          </a:lstStyle>
          <a:p>
            <a:r>
              <a:rPr lang="vi-VN" dirty="0"/>
              <a:t>11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0B812C9B-6A96-B859-F9C1-5B210F2E191C}"/>
              </a:ext>
            </a:extLst>
          </p:cNvPr>
          <p:cNvSpPr txBox="1">
            <a:spLocks/>
          </p:cNvSpPr>
          <p:nvPr userDrawn="1"/>
        </p:nvSpPr>
        <p:spPr>
          <a:xfrm>
            <a:off x="514350" y="73263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baseline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vi-VN" dirty="0"/>
              <a:t>Đhct giai đoạn sau năm 1975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B88D9078-12D2-7D6C-D0DF-EC14D9DEFC3C}"/>
              </a:ext>
            </a:extLst>
          </p:cNvPr>
          <p:cNvSpPr txBox="1">
            <a:spLocks/>
          </p:cNvSpPr>
          <p:nvPr userDrawn="1"/>
        </p:nvSpPr>
        <p:spPr>
          <a:xfrm>
            <a:off x="-1436207" y="275808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baseline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vi-VN" sz="2800" b="0" dirty="0"/>
              <a:t>- Tầm nhìn đến năm 2020</a:t>
            </a:r>
            <a:endParaRPr lang="en-US" sz="2800" b="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1D1AEE4A-A719-496E-442F-CF2AA84AE1DF}"/>
              </a:ext>
            </a:extLst>
          </p:cNvPr>
          <p:cNvSpPr txBox="1">
            <a:spLocks/>
          </p:cNvSpPr>
          <p:nvPr userDrawn="1"/>
        </p:nvSpPr>
        <p:spPr>
          <a:xfrm>
            <a:off x="1676400" y="360958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baseline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lang="vi-VN" sz="2400" b="0" dirty="0"/>
              <a:t>+ Đơn vị đào tạo và</a:t>
            </a:r>
          </a:p>
          <a:p>
            <a:pPr algn="l" fontAlgn="auto">
              <a:spcAft>
                <a:spcPts val="0"/>
              </a:spcAft>
            </a:pPr>
            <a:r>
              <a:rPr lang="vi-VN" sz="2400" b="0" dirty="0"/>
              <a:t>+ Nghiên cứu khoa học về cntt&amp;tt mạnh của cả nước</a:t>
            </a:r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40296150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515394"/>
            <a:ext cx="10515600" cy="1325563"/>
          </a:xfrm>
          <a:prstGeom prst="rect">
            <a:avLst/>
          </a:prstGeom>
        </p:spPr>
        <p:txBody>
          <a:bodyPr/>
          <a:lstStyle>
            <a:lvl1pPr marL="457200" indent="-457200" algn="l">
              <a:buFont typeface="Arial" panose="020B0604020202020204" pitchFamily="34" charset="0"/>
              <a:buChar char="•"/>
              <a:defRPr>
                <a:solidFill>
                  <a:srgbClr val="002060"/>
                </a:solidFill>
              </a:defRPr>
            </a:lvl1pPr>
          </a:lstStyle>
          <a:p>
            <a:r>
              <a:rPr lang="vi-VN" dirty="0"/>
              <a:t>Khoa cntt&amp;tt</a:t>
            </a:r>
            <a:br>
              <a:rPr lang="vi-VN" dirty="0"/>
            </a:b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3775" y="5883277"/>
            <a:ext cx="6672887" cy="365125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vi-VN" dirty="0"/>
              <a:t>Giới thiệu Đại Học Cần Thơ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vi-VN" dirty="0"/>
              <a:t>12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19664CC4-73FA-41D4-0229-F7D160A1FF05}"/>
              </a:ext>
            </a:extLst>
          </p:cNvPr>
          <p:cNvSpPr txBox="1">
            <a:spLocks/>
          </p:cNvSpPr>
          <p:nvPr userDrawn="1"/>
        </p:nvSpPr>
        <p:spPr>
          <a:xfrm>
            <a:off x="514350" y="73263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baseline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vi-VN" dirty="0"/>
              <a:t>Đhct giai đoạn sau năm 1975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77821486-73DA-4805-5EB6-ED1B705ED93D}"/>
              </a:ext>
            </a:extLst>
          </p:cNvPr>
          <p:cNvSpPr txBox="1">
            <a:spLocks/>
          </p:cNvSpPr>
          <p:nvPr userDrawn="1"/>
        </p:nvSpPr>
        <p:spPr>
          <a:xfrm>
            <a:off x="1162050" y="297259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baseline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lang="vi-VN" sz="2800" b="0" dirty="0"/>
              <a:t>- Các bộ môn và trung tâm </a:t>
            </a:r>
            <a:endParaRPr lang="en-US" sz="2800" b="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B8591C60-ECF3-5195-58BC-288360992D87}"/>
              </a:ext>
            </a:extLst>
          </p:cNvPr>
          <p:cNvSpPr txBox="1">
            <a:spLocks/>
          </p:cNvSpPr>
          <p:nvPr userDrawn="1"/>
        </p:nvSpPr>
        <p:spPr>
          <a:xfrm>
            <a:off x="1485900" y="409257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baseline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lang="vi-VN" sz="2400" b="0" dirty="0"/>
              <a:t>+ bộ môn hệ thống thông tin</a:t>
            </a:r>
          </a:p>
          <a:p>
            <a:pPr algn="l" fontAlgn="auto">
              <a:spcAft>
                <a:spcPts val="0"/>
              </a:spcAft>
            </a:pPr>
            <a:r>
              <a:rPr lang="vi-VN" sz="2400" b="0" dirty="0"/>
              <a:t>+ Bộ môn mạng máy tính &amp; truyền thông</a:t>
            </a:r>
          </a:p>
          <a:p>
            <a:pPr algn="l" fontAlgn="auto">
              <a:spcAft>
                <a:spcPts val="0"/>
              </a:spcAft>
            </a:pPr>
            <a:r>
              <a:rPr lang="vi-VN" sz="2400" b="0" dirty="0"/>
              <a:t>+ bộ môn công nghệ phần mềm </a:t>
            </a:r>
          </a:p>
          <a:p>
            <a:pPr algn="l" fontAlgn="auto">
              <a:spcAft>
                <a:spcPts val="0"/>
              </a:spcAft>
            </a:pPr>
            <a:r>
              <a:rPr lang="vi-VN" sz="2400" b="0" dirty="0"/>
              <a:t>+ bộ môn khoa học máy tính</a:t>
            </a:r>
          </a:p>
          <a:p>
            <a:pPr algn="l" fontAlgn="auto">
              <a:spcAft>
                <a:spcPts val="0"/>
              </a:spcAft>
            </a:pPr>
            <a:r>
              <a:rPr lang="vi-VN" sz="2400" baseline="-25000" dirty="0"/>
              <a:t>_</a:t>
            </a:r>
          </a:p>
        </p:txBody>
      </p:sp>
    </p:spTree>
    <p:extLst>
      <p:ext uri="{BB962C8B-B14F-4D97-AF65-F5344CB8AC3E}">
        <p14:creationId xmlns:p14="http://schemas.microsoft.com/office/powerpoint/2010/main" val="2489223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515394"/>
            <a:ext cx="10515600" cy="1325563"/>
          </a:xfrm>
          <a:prstGeom prst="rect">
            <a:avLst/>
          </a:prstGeom>
        </p:spPr>
        <p:txBody>
          <a:bodyPr/>
          <a:lstStyle>
            <a:lvl1pPr marL="457200" indent="-457200" algn="l">
              <a:buFont typeface="Arial" panose="020B0604020202020204" pitchFamily="34" charset="0"/>
              <a:buChar char="•"/>
              <a:defRPr>
                <a:solidFill>
                  <a:srgbClr val="002060"/>
                </a:solidFill>
              </a:defRPr>
            </a:lvl1pPr>
          </a:lstStyle>
          <a:p>
            <a:r>
              <a:rPr lang="vi-VN" dirty="0"/>
              <a:t>Khoa cntt&amp;tt</a:t>
            </a:r>
            <a:br>
              <a:rPr lang="vi-VN" dirty="0"/>
            </a:b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3775" y="5883277"/>
            <a:ext cx="6672887" cy="365125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vi-VN" dirty="0"/>
              <a:t>Giới thiệu Đại Học Cần Thơ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latin typeface="+mj-lt"/>
              </a:defRPr>
            </a:lvl1pPr>
          </a:lstStyle>
          <a:p>
            <a:r>
              <a:rPr lang="vi-VN" dirty="0"/>
              <a:t>13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1B595281-966B-CA48-7D5E-5300832BCAFB}"/>
              </a:ext>
            </a:extLst>
          </p:cNvPr>
          <p:cNvSpPr txBox="1">
            <a:spLocks/>
          </p:cNvSpPr>
          <p:nvPr userDrawn="1"/>
        </p:nvSpPr>
        <p:spPr>
          <a:xfrm>
            <a:off x="514350" y="73263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baseline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vi-VN" dirty="0"/>
              <a:t>Đhct giai đoạn sau năm 1975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14CBFBED-3073-20E5-8B8F-40FC63168FEE}"/>
              </a:ext>
            </a:extLst>
          </p:cNvPr>
          <p:cNvSpPr txBox="1">
            <a:spLocks/>
          </p:cNvSpPr>
          <p:nvPr userDrawn="1"/>
        </p:nvSpPr>
        <p:spPr>
          <a:xfrm>
            <a:off x="-847725" y="297259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baseline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vi-VN" b="0" dirty="0"/>
              <a:t>- </a:t>
            </a:r>
            <a:r>
              <a:rPr lang="vi-VN" sz="2800" b="0" dirty="0"/>
              <a:t>Các bộ môn và trung tâm</a:t>
            </a:r>
            <a:endParaRPr lang="en-US" sz="2800" b="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9E675C35-6C30-2898-C70F-881E3B70414D}"/>
              </a:ext>
            </a:extLst>
          </p:cNvPr>
          <p:cNvSpPr txBox="1">
            <a:spLocks/>
          </p:cNvSpPr>
          <p:nvPr userDrawn="1"/>
        </p:nvSpPr>
        <p:spPr>
          <a:xfrm>
            <a:off x="2109788" y="2972592"/>
            <a:ext cx="9591675" cy="33837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baseline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lang="vi-VN" sz="2400" b="0" dirty="0"/>
              <a:t>+ bộ môn công nghệ thông tin</a:t>
            </a:r>
          </a:p>
          <a:p>
            <a:pPr algn="l" fontAlgn="auto">
              <a:spcAft>
                <a:spcPts val="0"/>
              </a:spcAft>
            </a:pPr>
            <a:r>
              <a:rPr lang="vi-VN" sz="2400" b="0" dirty="0"/>
              <a:t>+ bộ môn tin học ứng dụng</a:t>
            </a:r>
          </a:p>
          <a:p>
            <a:pPr algn="l" fontAlgn="auto">
              <a:spcAft>
                <a:spcPts val="0"/>
              </a:spcAft>
            </a:pPr>
            <a:r>
              <a:rPr lang="vi-VN" sz="2400" b="0" dirty="0"/>
              <a:t>+ tổ văn phòng</a:t>
            </a:r>
          </a:p>
          <a:p>
            <a:pPr algn="l" fontAlgn="auto">
              <a:spcAft>
                <a:spcPts val="0"/>
              </a:spcAft>
            </a:pPr>
            <a:r>
              <a:rPr lang="vi-VN" sz="2400" b="0" dirty="0"/>
              <a:t>+ trung tâm điện tử &amp; tin học</a:t>
            </a:r>
          </a:p>
        </p:txBody>
      </p:sp>
    </p:spTree>
    <p:extLst>
      <p:ext uri="{BB962C8B-B14F-4D97-AF65-F5344CB8AC3E}">
        <p14:creationId xmlns:p14="http://schemas.microsoft.com/office/powerpoint/2010/main" val="23718872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515394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vi-VN" dirty="0"/>
              <a:t>CẢM ƠN SỰ CHÚ Ý CỦA QUÝ VỊ 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3775" y="5883277"/>
            <a:ext cx="6672887" cy="365125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+mj-lt"/>
              </a:defRPr>
            </a:lvl1pPr>
          </a:lstStyle>
          <a:p>
            <a:r>
              <a:rPr lang="vi-VN" dirty="0"/>
              <a:t>Giới thiệu Đại Học Cần Thơ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>
                <a:latin typeface="+mj-lt"/>
              </a:defRPr>
            </a:lvl1pPr>
          </a:lstStyle>
          <a:p>
            <a:r>
              <a:rPr lang="vi-VN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48534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3" y="5883277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vi-VN" dirty="0"/>
              <a:t>1</a:t>
            </a: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33F52FD8-52E3-4EFF-8947-88E5FD6BECB9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0300" y="609598"/>
            <a:ext cx="1590675" cy="140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36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61" r:id="rId2"/>
    <p:sldLayoutId id="2147483662" r:id="rId3"/>
    <p:sldLayoutId id="2147483663" r:id="rId4"/>
    <p:sldLayoutId id="2147483666" r:id="rId5"/>
    <p:sldLayoutId id="2147483671" r:id="rId6"/>
    <p:sldLayoutId id="2147483672" r:id="rId7"/>
    <p:sldLayoutId id="2147483673" r:id="rId8"/>
    <p:sldLayoutId id="2147483689" r:id="rId9"/>
    <p:sldLayoutId id="2147483690" r:id="rId10"/>
    <p:sldLayoutId id="2147483691" r:id="rId11"/>
    <p:sldLayoutId id="2147483692" r:id="rId12"/>
    <p:sldLayoutId id="2147483688" r:id="rId13"/>
    <p:sldLayoutId id="2147483693" r:id="rId14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ctr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None/>
        <a:defRPr sz="20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457200" indent="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None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8A33533-64E3-3AB6-71B8-65BD68F21D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 dirty="0"/>
              <a:t>Đại học cần thơ – quá trình hình thành và phát triển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C8563AE-6892-F5B1-A176-CB553D7EDF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vi-VN" sz="2800" b="0" dirty="0"/>
              <a:t>Ts. Nguyễn văn a</a:t>
            </a:r>
            <a:endParaRPr lang="en-US" sz="2800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3A49918-B09B-3890-FF7A-0D964CC26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 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C038CAD9-0942-22E8-7BE7-41AF5AF35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 dirty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25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24A3BF1-74E1-AF69-0778-A068C73529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 dirty="0"/>
              <a:t>Nội dung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128293C-89F0-AC3C-15EC-CA7C1520BA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vi-VN" dirty="0"/>
              <a:t>Thời kỳ viện đại học cần thơ ( 1966 – 1975)</a:t>
            </a:r>
          </a:p>
          <a:p>
            <a:r>
              <a:rPr lang="vi-VN" dirty="0"/>
              <a:t>Đhct giai đoạn sau năm 1975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1D4DA5B-09ED-B094-370A-8B5CA5670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8EB753A-F3DF-6F41-C563-4A0E63CF5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/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093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xmlns="" id="{C6255DD9-9982-7751-9D34-574685E4CF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3775" y="1690688"/>
            <a:ext cx="10700712" cy="985216"/>
          </a:xfrm>
        </p:spPr>
        <p:txBody>
          <a:bodyPr/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vi-VN" dirty="0"/>
              <a:t>Được thành lập ngày 31 tháng 03 năm 1966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vi-VN" dirty="0"/>
              <a:t>Viện đại học cần thơ có bốn khoa :</a:t>
            </a:r>
          </a:p>
          <a:p>
            <a:pPr marL="457200" indent="-457200" algn="l">
              <a:buFontTx/>
              <a:buChar char="-"/>
            </a:pPr>
            <a:r>
              <a:rPr lang="vi-VN" sz="2800" dirty="0"/>
              <a:t>Khoa học </a:t>
            </a:r>
          </a:p>
          <a:p>
            <a:pPr marL="457200" indent="-457200" algn="l">
              <a:buFontTx/>
              <a:buChar char="-"/>
            </a:pPr>
            <a:r>
              <a:rPr lang="vi-VN" sz="2800" dirty="0"/>
              <a:t>luật khoa </a:t>
            </a:r>
          </a:p>
          <a:p>
            <a:pPr marL="457200" indent="-457200" algn="l">
              <a:buFontTx/>
              <a:buChar char="-"/>
            </a:pPr>
            <a:r>
              <a:rPr lang="vi-VN" sz="2800" dirty="0"/>
              <a:t>Khoa học xã hội, văn khoa, sư phạm</a:t>
            </a:r>
          </a:p>
          <a:p>
            <a:pPr marL="457200" indent="-457200" algn="l">
              <a:buFontTx/>
              <a:buChar char="-"/>
            </a:pPr>
            <a:r>
              <a:rPr lang="vi-VN" sz="2800" dirty="0"/>
              <a:t> cao đẳng nông nghiệp và trung tâm sinh ngữ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B82BF509-3BA8-A349-17AF-DF1AF1F48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 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D4F21667-11F5-C419-8BFE-3748DA4BD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Thời kỳ viện đại học cần thơ (1966 – 1975)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8F7837A-7D85-C8BC-70D7-92B312232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11235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230231C-4EE1-0D73-7F29-9D0368F3D7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vi-VN" dirty="0"/>
              <a:t>Thời kỳ viện đại học cần thơ (1966 – 1975)</a:t>
            </a:r>
            <a:br>
              <a:rPr lang="vi-VN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8DB02F0-0C3F-AD6C-33CC-16171C8F92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5644" y="2037964"/>
            <a:ext cx="10700712" cy="98521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b="0" dirty="0"/>
              <a:t>Cơ sở vật chất của viện đại học cần thơ tọa lạc trên 4 địa điểm </a:t>
            </a:r>
          </a:p>
          <a:p>
            <a:pPr marL="457200" indent="-457200">
              <a:buFontTx/>
              <a:buChar char="-"/>
            </a:pPr>
            <a:r>
              <a:rPr lang="vi-VN" sz="2800" b="0" dirty="0"/>
              <a:t>Tòa viện trưởng ( số 5, đại lộ hòa bình)</a:t>
            </a:r>
          </a:p>
          <a:p>
            <a:pPr marL="457200" indent="-457200">
              <a:buFontTx/>
              <a:buChar char="-"/>
            </a:pPr>
            <a:r>
              <a:rPr lang="vi-VN" sz="2800" b="0" dirty="0"/>
              <a:t>Khu i ( đường 30/4)</a:t>
            </a:r>
          </a:p>
          <a:p>
            <a:pPr marL="457200" indent="-457200">
              <a:buFontTx/>
              <a:buChar char="-"/>
            </a:pPr>
            <a:r>
              <a:rPr lang="vi-VN" sz="2800" b="0" dirty="0"/>
              <a:t>Khu ii (đường 3/2)</a:t>
            </a:r>
          </a:p>
          <a:p>
            <a:pPr marL="457200" indent="-457200">
              <a:buFontTx/>
              <a:buChar char="-"/>
            </a:pPr>
            <a:r>
              <a:rPr lang="vi-VN" sz="2800" b="0" dirty="0"/>
              <a:t>Khu iii (số 1, lý tự trọng)</a:t>
            </a:r>
            <a:endParaRPr lang="en-US" sz="2800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27A8BF7-B006-A00F-6163-66D55C975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285B61F-2204-C04A-EDEC-38D5E767D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 dirty="0"/>
              <a:t>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933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C35B3BD-2EF4-5A88-81F5-F4931F41F7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903925"/>
            <a:ext cx="8689976" cy="985216"/>
          </a:xfrm>
        </p:spPr>
        <p:txBody>
          <a:bodyPr/>
          <a:lstStyle/>
          <a:p>
            <a:r>
              <a:rPr lang="vi-VN" dirty="0"/>
              <a:t>Đhct giai đoạn sau năm 1975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ADC25DA-82AA-F50D-6351-73A63C86C8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6" y="1966045"/>
            <a:ext cx="10700712" cy="98521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b="0" dirty="0"/>
              <a:t>Viện đại học cần thơ được đổi thành đhct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b="0" dirty="0"/>
              <a:t>Cơ cấu đhct hiện nay </a:t>
            </a:r>
          </a:p>
          <a:p>
            <a:pPr marL="457200" indent="-457200">
              <a:buFontTx/>
              <a:buChar char="-"/>
            </a:pPr>
            <a:r>
              <a:rPr lang="vi-VN" sz="2800" b="0" dirty="0"/>
              <a:t>Khoa – viện</a:t>
            </a:r>
          </a:p>
          <a:p>
            <a:pPr marL="457200" indent="-457200">
              <a:buFontTx/>
              <a:buChar char="-"/>
            </a:pPr>
            <a:r>
              <a:rPr lang="vi-VN" sz="2800" b="0" dirty="0"/>
              <a:t>Trung tâm – trung tâm đào tạo </a:t>
            </a:r>
          </a:p>
          <a:p>
            <a:pPr marL="457200" indent="-457200">
              <a:buFontTx/>
              <a:buChar char="-"/>
            </a:pPr>
            <a:r>
              <a:rPr lang="vi-VN" sz="2800" b="0" dirty="0"/>
              <a:t>Phòng ban chức năng</a:t>
            </a:r>
          </a:p>
          <a:p>
            <a:pPr marL="457200" indent="-457200">
              <a:buFontTx/>
              <a:buChar char="-"/>
            </a:pPr>
            <a:r>
              <a:rPr lang="vi-VN" sz="2800" b="0" dirty="0"/>
              <a:t>Đoàn thể &amp; hội</a:t>
            </a:r>
            <a:endParaRPr lang="en-US" sz="2800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0604FD8B-A2A1-8E8F-C47E-4BC626990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40738E7-D28B-1D5A-F3FF-3C241E3A9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612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FD373A-72CE-631D-1263-9AD796640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879548"/>
            <a:ext cx="8689976" cy="985216"/>
          </a:xfrm>
        </p:spPr>
        <p:txBody>
          <a:bodyPr/>
          <a:lstStyle/>
          <a:p>
            <a:r>
              <a:rPr lang="vi-VN" dirty="0"/>
              <a:t>Đhct giai đoạn sau 1975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B98B7F1-F883-BCE5-4389-8137671F47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6" y="2059973"/>
            <a:ext cx="10700712" cy="98521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dirty="0">
                <a:solidFill>
                  <a:srgbClr val="FF0000"/>
                </a:solidFill>
              </a:rPr>
              <a:t>Khoa khoa học tự nhiên</a:t>
            </a:r>
          </a:p>
          <a:p>
            <a:pPr marL="457200" indent="-457200">
              <a:buFontTx/>
              <a:buChar char="-"/>
            </a:pPr>
            <a:r>
              <a:rPr lang="vi-VN" sz="2800" b="0" dirty="0"/>
              <a:t>Ngày 14/1/1998, trường đhct khánh thành khoa khoa học</a:t>
            </a:r>
          </a:p>
          <a:p>
            <a:pPr marL="457200" indent="-457200">
              <a:buFontTx/>
              <a:buChar char="-"/>
            </a:pPr>
            <a:r>
              <a:rPr lang="vi-VN" sz="2800" b="0" dirty="0"/>
              <a:t>Cơ sở vật chất </a:t>
            </a:r>
          </a:p>
          <a:p>
            <a:r>
              <a:rPr lang="vi-VN" sz="2800" b="0" dirty="0"/>
              <a:t>         </a:t>
            </a:r>
            <a:r>
              <a:rPr lang="vi-VN" sz="2400" b="0" dirty="0"/>
              <a:t>+ 12 phòng thí nghiệm (ptn) cho sinh, hóa,  vật lý</a:t>
            </a:r>
          </a:p>
          <a:p>
            <a:r>
              <a:rPr lang="vi-VN" sz="2400" b="0" dirty="0"/>
              <a:t>           + 06 phòng máy tính được nối mạng với nhau</a:t>
            </a:r>
          </a:p>
          <a:p>
            <a:pPr marL="457200" indent="-457200">
              <a:buFontTx/>
              <a:buChar char="-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49EBFDDF-585E-6FE8-8BD3-7E5201F9F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7FC4462-E20D-2BAD-B0BA-458D98D65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 dirty="0"/>
              <a:t>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072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9EB173-8D73-C332-3F5B-BFD9B15849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941192"/>
            <a:ext cx="8689976" cy="985216"/>
          </a:xfrm>
        </p:spPr>
        <p:txBody>
          <a:bodyPr/>
          <a:lstStyle/>
          <a:p>
            <a:r>
              <a:rPr lang="vi-VN" dirty="0"/>
              <a:t>Đhct giai đoạn sau 1975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937927AE-E588-B99F-144C-1B06BD7971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8339" y="2520849"/>
            <a:ext cx="10700712" cy="98521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dirty="0">
                <a:solidFill>
                  <a:srgbClr val="FF0000"/>
                </a:solidFill>
              </a:rPr>
              <a:t>Khoa khoa học tự nhiên </a:t>
            </a:r>
          </a:p>
          <a:p>
            <a:r>
              <a:rPr lang="vi-VN" sz="2800" dirty="0"/>
              <a:t>    </a:t>
            </a:r>
            <a:r>
              <a:rPr lang="vi-VN" sz="2800" b="0" dirty="0"/>
              <a:t>- Cơ sở vật chất</a:t>
            </a:r>
          </a:p>
          <a:p>
            <a:r>
              <a:rPr lang="vi-VN" b="0" dirty="0"/>
              <a:t>      </a:t>
            </a:r>
            <a:r>
              <a:rPr lang="vi-VN" sz="2400" b="0" dirty="0"/>
              <a:t>+ vp khoa và xưởng sửa chữa </a:t>
            </a:r>
          </a:p>
          <a:p>
            <a:r>
              <a:rPr lang="vi-VN" sz="2400" b="0" dirty="0"/>
              <a:t>        + năm 2010, trường đã đầu tư mở rộng khu ptn của khoa </a:t>
            </a:r>
          </a:p>
          <a:p>
            <a:r>
              <a:rPr lang="vi-VN" sz="2400" b="0" dirty="0"/>
              <a:t>        + xây mới khu nhà 3 tầng với 22 phòng</a:t>
            </a:r>
            <a:endParaRPr lang="en-US" sz="2400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45F5F16-675D-472F-CEA8-3F3D491D5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CF18D08-40FC-EE90-32B3-BED91424D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 dirty="0"/>
              <a:t>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429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A646867-2B50-DB94-0BA2-DF34FD05DF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002837"/>
            <a:ext cx="8689976" cy="985216"/>
          </a:xfrm>
        </p:spPr>
        <p:txBody>
          <a:bodyPr/>
          <a:lstStyle/>
          <a:p>
            <a:r>
              <a:rPr lang="vi-VN" dirty="0"/>
              <a:t>Đhct giai đoạn sau 1975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67FD98D-1644-328E-8021-B9309E7286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3775" y="2115011"/>
            <a:ext cx="10700712" cy="98521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dirty="0">
                <a:solidFill>
                  <a:srgbClr val="FF0000"/>
                </a:solidFill>
              </a:rPr>
              <a:t>Khoa khoa học tự nhiên </a:t>
            </a:r>
          </a:p>
          <a:p>
            <a:pPr marL="457200" indent="-457200">
              <a:buFontTx/>
              <a:buChar char="-"/>
            </a:pPr>
            <a:r>
              <a:rPr lang="vi-VN" sz="2800" b="0" dirty="0"/>
              <a:t>Khoa khtn hiện nay gồm 04 bộ môn</a:t>
            </a:r>
          </a:p>
          <a:p>
            <a:r>
              <a:rPr lang="vi-VN" sz="2400" b="0" dirty="0"/>
              <a:t>         + bộ môn sinh học </a:t>
            </a:r>
          </a:p>
          <a:p>
            <a:r>
              <a:rPr lang="vi-VN" sz="2400" b="0" dirty="0"/>
              <a:t>         + bộ môn hóa học </a:t>
            </a:r>
          </a:p>
          <a:p>
            <a:r>
              <a:rPr lang="vi-VN" sz="2400" b="0" dirty="0"/>
              <a:t>         +bộ môn toán học </a:t>
            </a:r>
          </a:p>
          <a:p>
            <a:r>
              <a:rPr lang="vi-VN" sz="2400" b="0" dirty="0"/>
              <a:t>         + bộ môn vật lý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29440C4-7D82-4BB2-015A-62EED4B5D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0690555-B965-916D-4A12-67B03AE70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 dirty="0"/>
              <a:t>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500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C985A1-E18A-902C-A4BA-A575EE1B9F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828176"/>
            <a:ext cx="8689976" cy="985216"/>
          </a:xfrm>
        </p:spPr>
        <p:txBody>
          <a:bodyPr/>
          <a:lstStyle/>
          <a:p>
            <a:r>
              <a:rPr lang="vi-VN" dirty="0"/>
              <a:t>Đhct giai đoạn sau năm 1975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B9C3F8F-4365-748E-9F86-FAF5B10AA8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5644" y="1813392"/>
            <a:ext cx="10700712" cy="98521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dirty="0">
                <a:solidFill>
                  <a:srgbClr val="FF0000"/>
                </a:solidFill>
              </a:rPr>
              <a:t>Khoa khoa học tự nhiên </a:t>
            </a:r>
          </a:p>
          <a:p>
            <a:pPr marL="457200" indent="-457200">
              <a:buFontTx/>
              <a:buChar char="-"/>
            </a:pPr>
            <a:r>
              <a:rPr lang="vi-VN" sz="2800" b="0" dirty="0"/>
              <a:t>Công tác đào tạo </a:t>
            </a:r>
          </a:p>
          <a:p>
            <a:r>
              <a:rPr lang="vi-VN" b="0" dirty="0"/>
              <a:t>     </a:t>
            </a:r>
            <a:r>
              <a:rPr lang="vi-VN" sz="2400" b="0" dirty="0"/>
              <a:t>+ đại học:..... </a:t>
            </a:r>
          </a:p>
          <a:p>
            <a:r>
              <a:rPr lang="vi-VN" sz="2400" b="0" dirty="0"/>
              <a:t>       +sđh:......</a:t>
            </a:r>
          </a:p>
          <a:p>
            <a:r>
              <a:rPr lang="vi-VN" sz="2800" b="0" dirty="0"/>
              <a:t>- công tác nckh, báo cáo chuyên đề:.....</a:t>
            </a:r>
          </a:p>
          <a:p>
            <a:r>
              <a:rPr lang="vi-VN" sz="2800" b="0" dirty="0"/>
              <a:t>- công tác đào tạo và bồi dưỡng cấn bộ:......</a:t>
            </a:r>
            <a:endParaRPr lang="en-US" sz="2800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4B38C070-2532-BA28-3D8B-612A87A80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B8AF405-B099-89C8-E63E-F4B5F9D30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 dirty="0"/>
              <a:t>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529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D93BD7-6DE4-8972-C082-3EE475A5EB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838451"/>
            <a:ext cx="8689976" cy="985216"/>
          </a:xfrm>
        </p:spPr>
        <p:txBody>
          <a:bodyPr/>
          <a:lstStyle/>
          <a:p>
            <a:r>
              <a:rPr lang="vi-VN" dirty="0"/>
              <a:t>Đhct giai đoạn sau năm 1975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F056D436-1C0A-1B31-B1C8-3792EFEC02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790" y="1823667"/>
            <a:ext cx="10700712" cy="98521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u="sng" dirty="0">
                <a:solidFill>
                  <a:schemeClr val="accent1">
                    <a:lumMod val="50000"/>
                  </a:schemeClr>
                </a:solidFill>
              </a:rPr>
              <a:t>Khoa cntt&amp;tt</a:t>
            </a:r>
          </a:p>
          <a:p>
            <a:pPr marL="457200" indent="-457200">
              <a:buFontTx/>
              <a:buChar char="-"/>
            </a:pPr>
            <a:r>
              <a:rPr lang="vi-VN" sz="2800" dirty="0"/>
              <a:t>được thành lập năm 1994 trên cơ sở trung tâm điện tử và tin học</a:t>
            </a:r>
          </a:p>
          <a:p>
            <a:pPr marL="457200" indent="-457200">
              <a:buFontTx/>
              <a:buChar char="-"/>
            </a:pPr>
            <a:r>
              <a:rPr lang="vi-VN" sz="2800" dirty="0"/>
              <a:t>Nhiệm vụ của khoa là đào tạo</a:t>
            </a:r>
          </a:p>
          <a:p>
            <a:r>
              <a:rPr lang="vi-VN" dirty="0"/>
              <a:t> </a:t>
            </a:r>
            <a:r>
              <a:rPr lang="vi-VN" sz="2400" dirty="0"/>
              <a:t>+ đại học và sau đại học</a:t>
            </a:r>
          </a:p>
          <a:p>
            <a:r>
              <a:rPr lang="vi-VN" sz="2400" dirty="0"/>
              <a:t>  + nckh và chuyển giao công nghệ trong lĩnh vực cntt&amp;tt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C6351CD-2A5F-643E-CC34-DA5829658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357BBF5-CE48-74E7-4CFF-F48BA30CF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 dirty="0"/>
              <a:t>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599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CBAFEC-C260-358C-889B-92CBB98546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4DCE2C8-37F8-21D6-70B1-0384574128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accent1">
                    <a:lumMod val="50000"/>
                  </a:schemeClr>
                </a:solidFill>
              </a:rPr>
              <a:t>Khoa cntt&amp;tt</a:t>
            </a:r>
          </a:p>
          <a:p>
            <a:pPr marL="457200" indent="-457200">
              <a:buFontTx/>
              <a:buChar char="-"/>
            </a:pPr>
            <a:r>
              <a:rPr lang="vi-VN" sz="2800" b="0" dirty="0"/>
              <a:t>tầm nhìn đến năm 2020</a:t>
            </a:r>
          </a:p>
          <a:p>
            <a:r>
              <a:rPr lang="vi-VN" sz="2400" b="0" dirty="0"/>
              <a:t>       + đơn vị đào tạo và </a:t>
            </a:r>
          </a:p>
          <a:p>
            <a:r>
              <a:rPr lang="vi-VN" sz="2400" b="0" dirty="0"/>
              <a:t>       + nghiên cứu khoa học về cntt&amp;tt mạnh của cả nước </a:t>
            </a:r>
            <a:endParaRPr lang="en-US" sz="2400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E214414-8F0F-6B38-DB1C-F8653E62F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2466EC9-A9A9-B56F-A19F-54E20AA48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 dirty="0"/>
              <a:t>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355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940B00F-76FA-0468-1503-DEEA58ACE0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AC80F1F-1862-5032-3E00-F9F42E5B5C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5644" y="2286004"/>
            <a:ext cx="10700712" cy="98521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accent1">
                    <a:lumMod val="50000"/>
                  </a:schemeClr>
                </a:solidFill>
              </a:rPr>
              <a:t>Khoa cntt&amp;tt </a:t>
            </a:r>
          </a:p>
          <a:p>
            <a:pPr marL="457200" indent="-457200">
              <a:buFontTx/>
              <a:buChar char="-"/>
            </a:pPr>
            <a:r>
              <a:rPr lang="vi-VN" sz="2800" b="0" dirty="0"/>
              <a:t>Các bộ môn và trung tâm </a:t>
            </a:r>
          </a:p>
          <a:p>
            <a:r>
              <a:rPr lang="vi-VN" b="0" dirty="0"/>
              <a:t>  </a:t>
            </a:r>
            <a:r>
              <a:rPr lang="vi-VN" sz="2400" b="0" dirty="0"/>
              <a:t>+ bộ môn hệ thống thông tin </a:t>
            </a:r>
          </a:p>
          <a:p>
            <a:r>
              <a:rPr lang="vi-VN" sz="2400" b="0" dirty="0"/>
              <a:t>   + bộ môn mạng máy tính và truyền thông</a:t>
            </a:r>
          </a:p>
          <a:p>
            <a:r>
              <a:rPr lang="vi-VN" sz="2400" b="0" dirty="0"/>
              <a:t>   + bộ môn công nghệ phần mềm </a:t>
            </a:r>
          </a:p>
          <a:p>
            <a:r>
              <a:rPr lang="vi-VN" sz="2400" b="0" dirty="0"/>
              <a:t>   + bộ môn khoa học máy tính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4276125-E949-5E21-8916-214A22959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6FD976C-F7E0-22D1-F7B3-49B6F31E1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 dirty="0"/>
              <a:t>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12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D8FB5B5-28D8-98EE-F29D-EA774DAE90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002837"/>
            <a:ext cx="8689976" cy="985216"/>
          </a:xfrm>
        </p:spPr>
        <p:txBody>
          <a:bodyPr/>
          <a:lstStyle/>
          <a:p>
            <a:r>
              <a:rPr lang="vi-VN" dirty="0"/>
              <a:t>Đhct giai đoạn sau năm 1975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012D500-8C85-E069-F62B-6A3501DD9B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242" y="2207478"/>
            <a:ext cx="10700712" cy="98521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accent1">
                    <a:lumMod val="50000"/>
                  </a:schemeClr>
                </a:solidFill>
              </a:rPr>
              <a:t>Khoa cntt&amp;tt</a:t>
            </a:r>
          </a:p>
          <a:p>
            <a:pPr marL="457200" indent="-457200">
              <a:buFontTx/>
              <a:buChar char="-"/>
            </a:pPr>
            <a:r>
              <a:rPr lang="vi-VN" sz="2800" b="0" dirty="0"/>
              <a:t>Các bộ môn và trung tâm </a:t>
            </a:r>
          </a:p>
          <a:p>
            <a:r>
              <a:rPr lang="vi-VN" sz="2400" b="0" dirty="0"/>
              <a:t>  + bộ môn công nghệ thông tin</a:t>
            </a:r>
          </a:p>
          <a:p>
            <a:r>
              <a:rPr lang="vi-VN" sz="2400" b="0" dirty="0"/>
              <a:t>  + bộ môn tin học ứng dụng</a:t>
            </a:r>
          </a:p>
          <a:p>
            <a:r>
              <a:rPr lang="vi-VN" sz="2400" b="0" dirty="0"/>
              <a:t>  + tổ văn phòng </a:t>
            </a:r>
          </a:p>
          <a:p>
            <a:r>
              <a:rPr lang="vi-VN" sz="2400" b="0" dirty="0"/>
              <a:t>  + trung tâm điện tử &amp; tin học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0CF5CCA3-346D-AE2B-B965-727B5382D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EDDFF2D-E6A8-A55F-0D79-5E446101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 dirty="0"/>
              <a:t>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200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6F484A-7CD9-974A-762D-E460AEF9AC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8544" y="2204914"/>
            <a:ext cx="8689976" cy="985216"/>
          </a:xfrm>
        </p:spPr>
        <p:txBody>
          <a:bodyPr/>
          <a:lstStyle/>
          <a:p>
            <a:r>
              <a:rPr lang="vi-VN" dirty="0"/>
              <a:t>Cảm ơn sự chú ý của quý vị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6C5D9AE-EEF6-5754-C848-67CA84934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748C8A4-DEB4-1CB2-8A02-22F77C2D4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 dirty="0"/>
              <a:t>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773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298</TotalTime>
  <Words>659</Words>
  <Application>Microsoft Office PowerPoint</Application>
  <PresentationFormat>Widescreen</PresentationFormat>
  <Paragraphs>105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  <vt:variant>
        <vt:lpstr>Custom Shows</vt:lpstr>
      </vt:variant>
      <vt:variant>
        <vt:i4>2</vt:i4>
      </vt:variant>
    </vt:vector>
  </HeadingPairs>
  <TitlesOfParts>
    <vt:vector size="22" baseType="lpstr">
      <vt:lpstr>Arial</vt:lpstr>
      <vt:lpstr>Calibri</vt:lpstr>
      <vt:lpstr>Times New Roman</vt:lpstr>
      <vt:lpstr>Tw Cen MT</vt:lpstr>
      <vt:lpstr>Wingdings</vt:lpstr>
      <vt:lpstr>Droplet</vt:lpstr>
      <vt:lpstr>Đại học cần thơ – quá trình hình thành và phát triển </vt:lpstr>
      <vt:lpstr>Nội dung</vt:lpstr>
      <vt:lpstr>Thời kỳ viện đại học cần thơ (1966 – 1975)</vt:lpstr>
      <vt:lpstr>Thời kỳ viện đại học cần thơ (1966 – 1975) </vt:lpstr>
      <vt:lpstr>Đhct giai đoạn sau năm 1975</vt:lpstr>
      <vt:lpstr>Đhct giai đoạn sau 1975</vt:lpstr>
      <vt:lpstr>Đhct giai đoạn sau 1975</vt:lpstr>
      <vt:lpstr>Đhct giai đoạn sau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Cảm ơn sự chú ý của quý vị</vt:lpstr>
      <vt:lpstr>KHTN</vt:lpstr>
      <vt:lpstr>CNTT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Đại học cần thơ – quá trình hình thành và phát triển </dc:title>
  <dc:creator>Nguyen Thi Kieu My - B2511711</dc:creator>
  <cp:lastModifiedBy>Windows User</cp:lastModifiedBy>
  <cp:revision>6</cp:revision>
  <dcterms:created xsi:type="dcterms:W3CDTF">2026-02-04T11:42:36Z</dcterms:created>
  <dcterms:modified xsi:type="dcterms:W3CDTF">2026-02-05T00:31:50Z</dcterms:modified>
</cp:coreProperties>
</file>